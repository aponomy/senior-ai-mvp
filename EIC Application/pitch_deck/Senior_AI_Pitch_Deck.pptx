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Senior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The Accessible Gateway to AI for 125M Elderly Europeans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8FAFC"/>
                </a:solidFill>
              </a:defRPr>
            </a:pPr>
            <a:r>
              <a:t>Create • Learn • Explore •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EU-Sovereign • Cognitive-Accessible • 14+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Why Now: The Mandate for Inclusion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🤖 AI Revolution: Thousands of tools are inaccessible to elderly users.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🇪🇺 Accessibility Act June 2025: Compliance deadline mandates accessible services.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📊 Digital Decade 2030: 80% digital skills target with a 40-50 point gap for seniors.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Proven Results (TRL 5 Validation)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Task Completion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2×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vs. leading voice assistants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2648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Cognitive Load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-50%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NASA-TLX improvement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Critical Errors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-80%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Validated with elderly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67512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Context Retention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30+ turns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vs. 3-5 turn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Digital Exclusion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70–85M elderly Europeans are left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Two revolutions without seniors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Banking: 25–30% of branches closing, forcing customers online.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Healthcare: E-prescriptions are now mandatory across Europe.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Government: 80–90% of services are digital-only.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Result: 40–60% of seniors abandon multi-step tasks mid-process.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AI Revolution is inaccessible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Thousands of AI tools (ChatGPT, Midjourney, Perplexity, Adobe Firefly) are too complex to find or use.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An additional 50M Europeans with ADHD, MCI, or early dementia hit the same barriers.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Seniors are excluded from creativity, lifelong learning, and digital autonomy.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Current solutions fail the cognitive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67512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Alexa / Google Assistant: Linear interactions that lose context after 3–5 turns.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ElliQ companion robots: High cost and narrow scope focused on companionship.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AI suites: Interfaces never designed for elderly cognition or low digital literacy.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Our Users &amp;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Creative, curious, and independent seniors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Personas we design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Maria, 78 – Creates family photo books, learns history, writes memoirs. Needs long-term context and safe exploration.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Lars, 83 – Researches WWII ships, generates images, stays informed. Needs multi-day memory and tools that preserve independence.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Ingrid, 72 – Digital artist with ADHD, collaborates with grandkids. Needs non-destructive branching and structured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Total Addressable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Primary: 70–85M seniors with low digital skills facing exclusion (€6.7–12.2B).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Secondary: 23–31M users with cognitive challenges such as MCI or ADHD (€0.8–2.9B).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Tertiary: 20–25M proactive users preparing to age-in-place (€1.0–2.2B).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Combined annual opportunity: €6–14B driven by the need for cognitive-accessible digital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Our Solution: The AI Accessibility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One interface that unlocks thousands of AI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Senior AI functions as the accessibility layer for the entire AI ecosystem, simplifying discovery and execution across 14+ life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What we enable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🎨 Create – Images, videos, presentations, stories, poems (Create, Media, Entertainment).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📚 Learn – Research topics, explore culture, stay informed safely (Learning, Services).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📲 Connect – Share memories, collaborate with family, communicate effortlessly (Communication, Home).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🏛 Execute – Banking, healthcare, government, shopping, legal, mobility (Healthcare, Banking, Government, Transport, Shopping, Legal).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Cognitive-accessible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Conversation Atlas retains 30+ turns of context with multi-resolution views.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Safe Branching (DAG) lets users explore “what if” scenarios without losing progress.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AI Apps turn complex workflows (e.g., bank transfers) into clear, visual step-by-step journeys.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Four Technical Breakthroughs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Creating a 24–36 month defensibility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Senior AI is the first elderly-accessible AI gateway that merges cognitive design with EU-sovereign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1. Branch-Preserving Conversation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Synchronized timeline, key points, and detail views.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Delivers 6–10× context retention without cognitive overload.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7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2. Non-Destructive Branching via 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Directed Acyclic Graph keeps every branch versioned and recoverable.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Enables safe exploration with 60–80% error reduction.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1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3. Capability-Scoped Secure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79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Per-task capability tokens bound to conversational context.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Population-specific safety policies for regulated domains.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23757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4. EU-Sovereign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863837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GDPR-first architecture with EU data residency.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Deep integration with BankID / eIDAS 2.0 and healthcare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Validation &amp; TRL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Prototype proven with elderly users (TRL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Controlled trial vs. Alexa /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Task Completion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82–89%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≥2× improvement over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Cognitive Load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3.2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50% reduction on NASA-TLX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Critical Errors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0.8–1.2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60–80% fewer per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4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Context Retention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30+ turns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6–10×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Path to TRL 8 (18 months with EIC grant)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M6 Alpha: 4 domains live, 50–100 users, BankID sandbox.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M12 Production v1.0: 14 domains, 150–250 users, BankID production approval.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M18 TRL 8: 10–15 pilots, 250–450 users, EN 301 549 certification.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Market Opportunity &amp; Beachhead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From €380–410M SOM in Year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Serviceable Obtainable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Year 5 target: €380–410M by serving 2.0–2.3M seniors across initial geographies.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Beachhead: Scandinavia + DACH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Mature digital identity infrastructure (BankID, eIDAS).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High elderly digital literacy (65–70% online).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Proven willingness to pay €150–180 ARR for independence.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Domain expansion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Phase 1 (Alpha): Healthcare, Banking, Transport, Government.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Phase 2 (Beta): +Shopping, Food, Energy, Tax (8 domains total).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Phase 3 (Production): +Legal, Insurance, Entertainment, Communication, Travel, Home Services (14 domains).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Owning the complex tasks + elderly design 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2×2 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Simple tasks + generic design: Alexa, Google Assistant.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Simple tasks + elderly design: ElliQ, senior tablets.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Complex tasks + generic design: ChatGPT, Claude, AI suites.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Complex tasks + elderly design: Senior AI (only player).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Why competitors can't follow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Proprietary Conversation Atlas + DAG architecture (18–24 months R&amp;D).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Regulatory moat: GDPR-first, EN 301 549 readiness, BankID / eIDAS integration.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Population-specific safety tuning delivering 60–80% fewer critical errors.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Network effects: More domains = richer, shareable memory across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Business Model &amp;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Dual revenue engine with SaaS margins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Revenue mix (Year 3 estimate)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B2C Direct – 40%: €120–180 ARPU via self-serve SaaS tiers.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B2B2C White-Label – 45%: €30–50 ARPU subsidized by banks, insurers, municipalities.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B2B Enterprise – 15%: €600–1,200 per seat for call centers and care homes.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Unit economics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Gross Margin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85%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Software-only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93776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LTV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€540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4+ year lifetime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1208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CAC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€80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Blended across 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LTV:CAC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6.8 : 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Year 5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Break-even by Year 2–3 at 40–66K monthly active users with 10 month payback.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Multi-channel rollout anchored in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We focus 60% of resources on B2B2C channels that leverage institutional trust while building direct SaaS momentum.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Primary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1. B2B2C White-Label – 12 pilots secured with Nordea, Folksam, Allianz exploring participation.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2. Municipal Partnerships – Digital inclusion programs with Malmö, Uppsala, Linköping.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3. B2C Direct – Performance marketing and content for tech-literate seniors and adult children.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4. NGOs &amp; Senior Centers – 40+ workshops and demos across Scandinavia &amp; DACH.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5. Pharmacy &amp; Healthcare – Point-of-need demos with Apoteket (SE) and dm-drogerie (DE).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Pilot 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M6–M18: Launching 10–15 operational pilots engaging 250–450 seniors to reach TRL 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Regulatory Compliance – The EU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Trust, safety, and legal readiness built-in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Compliance is a competitive advantage for operating in banking, healthcare, and government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Four compliance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GDPR &amp; Data Privacy – EU data residency via Cloudflare regions, subscription-funded model (live).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Accessibility (EAA) – WCAG 2.1 AAA experience, targeting EN 301 549 certification by M15.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Identity &amp; Orchestration – BankID / eIDAS 2.0 ready, FHIR / EHDS integrations in progress.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AI Act – Transparency, human oversight dashboard, and risk management system ready for Q2 2026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Result: A defensible moat against non-EU competitors and a trust foundation for vulnerable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18-Month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From TRL 5 prototype to TRL 8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Phase 1 – Alpha (M1–M6)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4 core domains live: Healthcare, Banking, Transport, Government.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50–100 test users in Sweden; BankID sandbox integrations.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Milestone M3: first e-prescription workflow, M6: alpha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Phase 2 – Beta (M7–M12)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Add Shopping, Food, Energy, Tax for 8 domains total.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150–250 users in pilots across Scandinavia.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Milestone M9: EN 301 549 audit, M12: Production v1.0 + BankID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Phase 3 – Production (M13–M18)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All 14+ domains live including Legal, Insurance, Communication, Travel, Home services.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250–450 users via pilots in Scandinavia and DACH.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Milestones: M15 ISO 27001, M18 TRL 8 qualification &amp; Series A readiness.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Risk budget: €800K (12%) reserved for AI Act compliance, integration delays, and user adoption experiments.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Team &amp;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AI, healthcare, and EU regulatory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Founding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CEO &amp; Co-founder – AI product leader with elderly care and EU policy expertise.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CTO &amp; Co-founder – Conversational AI and EU data architecture specialist.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Scaling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19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M6: 8–10 FTE (ML engineers, UX, DevSecOps).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M12: 12–15 FTE (add compliance, B2B2C sales, pilot coordination).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M18: 18–22 FTE with dedicated DACH expansion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39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Advisory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79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Elderly care expert guiding user research and gerontology insights.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EU regulatory specialist (AI Act, DG CONNECT background).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AI/ML scale-up advisor with relevant product launches.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The Ask &amp; Projected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Scaling an EU-sovereign accessibility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Funding request (€6.5–7M)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EIC Grant – €2.5M non-dilutive for TRL 5 → TRL 8 R&amp;D, certification, pilots (18 months).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EIC Equity – €3.0M for team scaling, customer acquisition, platform hardening (M6–M12).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Co-investment – €1.5–2.0M strategic capital for geographic expansion (M6–M18).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Year 5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ARR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€64.1M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Base case forecast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93776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EBITDA Margin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52%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Capital-efficient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12080"/>
            <a:ext cx="228600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Break-even</a:t>
            </a:r>
          </a:p>
          <a:p>
            <a:pPr>
              <a:defRPr sz="3600" b="1">
                <a:solidFill>
                  <a:srgbClr val="34D399"/>
                </a:solidFill>
              </a:defRPr>
            </a:pPr>
            <a:r>
              <a:t>Year 2–3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At 40–66K MAU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8FAFC"/>
                </a:solidFill>
              </a:defRPr>
            </a:pPr>
            <a:r>
              <a:t>Societal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7772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€970M annual economic value via delayed institutionalization and reduced caregiver burden.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10.8 : 1 societal ROI compared to user spend.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Restores autonomy for 70–85M vulnerable Europeans.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